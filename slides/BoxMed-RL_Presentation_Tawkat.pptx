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dm9pOFmNnne9Xl4S7RyQaWkSc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320040"/>
            <a:ext cx="2103120" cy="411480"/>
          </a:xfrm>
          <a:prstGeom prst="rect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3200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Medical Image Analysis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Reason like a Radiologist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92024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BAACC"/>
                </a:solidFill>
                <a:latin typeface="Calibri"/>
                <a:ea typeface="Calibri"/>
                <a:cs typeface="Calibri"/>
                <a:sym typeface="Calibri"/>
              </a:rPr>
              <a:t>Chain-of-Thought and Reinforcement Learning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BAACC"/>
                </a:solidFill>
                <a:latin typeface="Calibri"/>
                <a:ea typeface="Calibri"/>
                <a:cs typeface="Calibri"/>
                <a:sym typeface="Calibri"/>
              </a:rPr>
              <a:t>for Verifiable Report Generation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880360"/>
            <a:ext cx="3200400" cy="36576"/>
          </a:xfrm>
          <a:prstGeom prst="rect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31089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BoxMed-RL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374904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Peiyuan Jing*, Kinhei Lee*, Zhenxuan Zhang*, Huichi Zhou,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Zhengqing Yuan, Zhifan Gao, Lei Zhu, Giorgos Papanastasiou,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Yingying Fang, Guang Yang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8E"/>
                </a:solidFill>
                <a:latin typeface="Calibri"/>
                <a:ea typeface="Calibri"/>
                <a:cs typeface="Calibri"/>
                <a:sym typeface="Calibri"/>
              </a:rPr>
              <a:t>Imperial College London  |  University of Notre Dame  |  Sun Yat-sen University  |  HKUST(GZ)  |  Academy of Athens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Presentation Outline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508760" y="13533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08760" y="16276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explainable radiology reports matter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508760" y="206654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Challenges &amp; Prior 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508760" y="234086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Workflow mismatch and textual-visual misalignment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2798064"/>
            <a:ext cx="457200" cy="457200"/>
          </a:xfrm>
          <a:prstGeom prst="ellipse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2960" y="2798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508760" y="2779776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BoxMed-RL Framework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08760" y="3054096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MCL + SVR pretraining and downstream adapter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508760" y="349300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508760" y="376732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MIMIC-CXR, IU X-Ray benchmarks and ablations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22960" y="4224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508760" y="4206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508760" y="44805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Summary and 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Introduction &amp; Motivation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76" y="1331126"/>
            <a:ext cx="3459900" cy="3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Radiological imaging is critical for clinical decision-making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Explainability and transparency of AI-generated medical reports are essential for clinical 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Inadequate explainability leads to miscommunications, potential misdiagnoses, and compromised patient safety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Rapidly increasing imaging volumes create substantial workload pressures on radiologists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Need: Explainable automated report generation combining fine-grained visual perception with clinical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6774" y="386026"/>
            <a:ext cx="4492901" cy="42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4937760" y="4617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1(a): Clinical motivation — radiologists combine medical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concepts with spatial clues when interpreting chest X-rays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Key Challenges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80" y="1051560"/>
            <a:ext cx="39319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1051560"/>
            <a:ext cx="64008" cy="1874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14400" y="1143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Challenge 1: Workflow Mismatch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14400" y="150876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Models generate free-form narratives that deviate from radiologists' structured diagnostic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May produce contradictory findings (e.g., "low volume" + "tension pneumothorax")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Prioritize linguistic similarity over clinical plausibility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80" y="3154680"/>
            <a:ext cx="393192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40080" y="3154680"/>
            <a:ext cx="64008" cy="1874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914400" y="3246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Challenge 2: Textual-Visual Misalignment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14400" y="361188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ability to correlate text with visual evidence (e.g., noting a "lung nodule" without localizing it)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Clinicians cannot verify if findings are image-based or from biased language priors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Models "guess" plausible findings without spatial fidelity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Our Contributions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40080" y="1325880"/>
            <a:ext cx="7863840" cy="749808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0080" y="1325880"/>
            <a:ext cx="64008" cy="749808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14400" y="13990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BAACC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417320" y="137160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BoxMed-RL 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417320" y="16916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First method to combine reasoning and spatial grounding in chest X-ray report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2221992"/>
            <a:ext cx="7863840" cy="749808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" y="2221992"/>
            <a:ext cx="64008" cy="749808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14400" y="229514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BAAC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417320" y="226771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Medical Concept Learning (MCL)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417320" y="258775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Forces models to internalize radiologists' diagnostic logic through hierarchical reasoning steps (Findings → Disease → Anatomy)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40080" y="3118104"/>
            <a:ext cx="7863840" cy="749808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0080" y="3118104"/>
            <a:ext cx="64008" cy="749808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14400" y="31912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BAACC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417320" y="316382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Spatially Verifiable Reinforcement (SVR)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417320" y="3483864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Explicitly aligns textual descriptions with anatomical regions using IoU-based rewards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0080" y="4014216"/>
            <a:ext cx="7863840" cy="749808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40080" y="4014216"/>
            <a:ext cx="64008" cy="749808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914400" y="4087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BAACC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417320" y="405993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State-of-the-Art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417320" y="4379976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Average 7% improvement in METEOR &amp; ROUGE-L, 5% in LLM-based metrics on MIMIC-CXR and IU X-Ray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BoxMed-RL: Framework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0076" y="960125"/>
            <a:ext cx="2267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Two-Phase Training Framework: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1 — Pretraining: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MCL: Learn radiologist-like reasoning via structured Chain-of-Thought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SVR: Enforce spatial grounding with RL (IoU-based rewards)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Phase 2 — Downstream Adapter: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Freeze pretrained weights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Fine-tune lightweight LoRA adapter for fluent report generation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6" title="Screenshot 2026-03-13 at 11.47.1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225" y="1050323"/>
            <a:ext cx="5981349" cy="339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Medical Concept Learning (MCL)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76" y="1051550"/>
            <a:ext cx="41733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Goal: Internalize hierarchical diagnostic logic of radiologists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Structured Chain-of-Thought reasoning dataset: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  Findings → Disease Category → Anatomical Region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Knowledge banks curated with senior radiologist: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Disease Knowledge Bank: 14 CheXbert labels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Anatomy Knowledge Bank: 12 regions (11 STREAM + "whole lung")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Output format: &lt;think&gt; reasoning → &lt;cat&gt; disease → &lt;area&gt; anatomy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3,772 structured reasoning chains constructed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Optimized with cross-entropy loss on CoT annotations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7" title="Screenshot 2026-03-13 at 11.48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576" y="822960"/>
            <a:ext cx="4025825" cy="3807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Spatially Verifiable Reinforcement (SVR)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" y="960120"/>
            <a:ext cx="82296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Goal: Bridge the gap between textual descriptions and anatomical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RL with Verifiable Rewards: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Group Relative Policy Optimization (GRPO)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separate value network needed — compares within group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Two Reward Components: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IoU Reward: Measures overlap between predicted and ground-truth bounding boxes (threshold &gt; 0.3)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Format Reward: Binary signal enforcing &lt;think&gt;...&lt;answer&gt; structured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Combined reward: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R(q, yᵢ) = R_IoU(q, yᵢ) + R_format(q, yᵢ)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KL divergence regularization against frozen reference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Downstream Adapter Phase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640080" y="1188720"/>
            <a:ext cx="73152" cy="1005840"/>
          </a:xfrm>
          <a:prstGeom prst="rect">
            <a:avLst/>
          </a:prstGeom>
          <a:solidFill>
            <a:srgbClr val="2B7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1005840" y="128016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Freeze Backbone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005840" y="16459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Pretrained BoxMed-RL weights (θ'') are frozen to preserve structured reasoning and spatial alignment from MCL + SVR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40080" y="2423160"/>
            <a:ext cx="7863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640080" y="2423160"/>
            <a:ext cx="73152" cy="1005840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1005840" y="251460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LoRA Adapter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005840" y="288036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Lightweight Low-Rank Adaptation adapter is attached and fine-tuned on raw radiology reports for fluent, clinically coherent text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640080" y="3657600"/>
            <a:ext cx="73152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1005840" y="37490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Cross-Entropy Training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005840" y="411480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Adapter trained with cross-entropy loss on chest X-ray image–report pairs, learning professional phrasing while preserving diagnostic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AACC"/>
                </a:solidFill>
                <a:latin typeface="Calibri"/>
                <a:ea typeface="Calibri"/>
                <a:cs typeface="Calibri"/>
                <a:sym typeface="Calibri"/>
              </a:rPr>
              <a:t>Key Insight: Freezing backbone prevents catastrophic forgetting of reasoning and grounding 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Results: MIMIC-CXR Benchmark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" y="960125"/>
            <a:ext cx="234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Key Findings on MIMIC-CXR: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SOTA in BLEU-3 (0.185), BLEU-4 (0.134)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METEOR (0.180) and ROUGE-L (0.314) — avg. 7%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LLM-based metrics: GEMA-Score (0.560) and GreenScore (0.310)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Competitive CheXbert (0.466) without explicit clinical metric optimization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Higher-order BLEU scores reflect clinical coherence over surface fluency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0" title="Screenshot 2026-03-13 at 11.50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025" y="906632"/>
            <a:ext cx="5912371" cy="350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Results: IU X-Ray Benchmark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96012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Key Findings on IU X-Ray: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BLEU-3 (0.240), best METEOR (0.220)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ROUGE-L (0.404) — significant improvement over all baselines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CheXbert cosine similarity (0.610)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Consistent gains across datasets demonstrate robustness and generalizability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BoxMed-RL uniquely balances NLG quality, clinical accuracy, and explainability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1" title="Screenshot 2026-03-13 at 11.51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400" y="960115"/>
            <a:ext cx="4571999" cy="280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Ablation Study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57200" y="960125"/>
            <a:ext cx="34509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Component Analysis: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w/o MCL &amp; SVR: Adapter-only baseline — no reasoning or grounding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w/o SVR: MCL alone improves BLEU-3/4 and CheXbert (+7% BLEU)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w/o MCL: SVR alone strengthens GreenScore &amp; GEMA-Score (+3% BLEU)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w/o Frozen: Full fine-tuning improves BLEU-1/2 but hurts all other metrics — loses internalized reasoning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Full BoxMed-RL: Best overall — 22% avg BLEU improvement, 15% CE improvement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2" title="Screenshot 2026-03-13 at 11.52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520" y="554238"/>
            <a:ext cx="4572001" cy="420129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2"/>
          <p:cNvSpPr/>
          <p:nvPr/>
        </p:nvSpPr>
        <p:spPr>
          <a:xfrm>
            <a:off x="438912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5: GreenScore criteria and CheXbert category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Qualitative Results: Success Cases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BoxMed-RL produces interpretable reasoning chains: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Correctly links findings to disease categories (e.g., "mild cardiomegaly" → heart size → cardiac silhouette)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support devices and localizes to correct anatomy regions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Predicted bounding boxes (dashed) closely match ground truth (solid)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Color-coded report findings match their corresponding anatomical regions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Enables clinicians to verify and understand how each report statement arises from image 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3" title="Screenshot 2026-03-13 at 11.53.4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120" y="704173"/>
            <a:ext cx="4572000" cy="4078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/>
          <p:nvPr/>
        </p:nvSpPr>
        <p:spPr>
          <a:xfrm>
            <a:off x="4389120" y="4782235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6: Qualitative examples — generated/GT reports, reasoning chains, and detected anatomy regions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Human Evaluation &amp; External Validation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57200" y="96012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Radiologist Evaluation (5-point Likert):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BoxMed-RL achieves highest scores across all 5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Especially strong in Entity Accuracy and Location Accuracy — reflecting MCL + SVR benefits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7A9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B7A9B"/>
                </a:solidFill>
                <a:latin typeface="Calibri"/>
                <a:ea typeface="Calibri"/>
                <a:cs typeface="Calibri"/>
                <a:sym typeface="Calibri"/>
              </a:rPr>
              <a:t>External Validation (CheXpert Plus):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Consistently outperforms baselines under cross-domain distribution shifts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CheXbert improved by avg. 36% vs prior models — demonstrating strong generalization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4" title="Screenshot 2026-03-13 at 11.55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075" y="801625"/>
            <a:ext cx="4022726" cy="23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 title="Screenshot 2026-03-13 at 11.56.2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175" y="3422125"/>
            <a:ext cx="3138626" cy="17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640080" y="36576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Conclusion &amp; Future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4008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BAACC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640080" y="1508760"/>
            <a:ext cx="38404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D4F5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D4F5F"/>
                </a:solidFill>
                <a:latin typeface="Calibri"/>
                <a:ea typeface="Calibri"/>
                <a:cs typeface="Calibri"/>
                <a:sym typeface="Calibri"/>
              </a:rPr>
              <a:t>BoxMed-RL unifies medical concept learning with spatially verifiable RL for chest X-ray report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D4F5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D4F5F"/>
                </a:solidFill>
                <a:latin typeface="Calibri"/>
                <a:ea typeface="Calibri"/>
                <a:cs typeface="Calibri"/>
                <a:sym typeface="Calibri"/>
              </a:rPr>
              <a:t>Addresses workflow mismatch and textual-visual misalignment simultaneously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BAACC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3BAACC"/>
                </a:solidFill>
                <a:latin typeface="Calibri"/>
                <a:ea typeface="Calibri"/>
                <a:cs typeface="Calibri"/>
                <a:sym typeface="Calibri"/>
              </a:rPr>
              <a:t>Avg. 7% improvement in METEOR &amp; ROUGE-L; 5% in LLM-based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D4F5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D4F5F"/>
                </a:solidFill>
                <a:latin typeface="Calibri"/>
                <a:ea typeface="Calibri"/>
                <a:cs typeface="Calibri"/>
                <a:sym typeface="Calibri"/>
              </a:rPr>
              <a:t>Strong generalization on external CheXpert Plus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AA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0" y="11887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2026-03-12T00:36:57Z</dcterms:created>
  <dc:creator>Peiyuan Jing et al.</dc:creator>
</cp:coreProperties>
</file>