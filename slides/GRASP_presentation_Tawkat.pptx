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BN/b6X6i91pkaNVquaC7SuzAz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98ECE6-A58D-4028-ADBC-C6851BD84B09}">
  <a:tblStyle styleId="{6F98ECE6-A58D-4028-ADBC-C6851BD84B0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2fcafebe9_0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2fcafebe9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2fcafebe9_0_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2fcafebe9_0_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2fcafebe9_0_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2fcafebe9_0_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8.png"/><Relationship Id="rId13" Type="http://schemas.openxmlformats.org/officeDocument/2006/relationships/image" Target="../media/image7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9" Type="http://schemas.openxmlformats.org/officeDocument/2006/relationships/image" Target="../media/image12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33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8503920" y="914400"/>
            <a:ext cx="3291840" cy="3291840"/>
          </a:xfrm>
          <a:prstGeom prst="ellipse">
            <a:avLst/>
          </a:prstGeom>
          <a:solidFill>
            <a:srgbClr val="141C33">
              <a:alpha val="0"/>
            </a:srgbClr>
          </a:solidFill>
          <a:ln cap="flat" cmpd="sng" w="12700">
            <a:solidFill>
              <a:srgbClr val="065A8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8019288" y="411480"/>
            <a:ext cx="4297680" cy="4297680"/>
          </a:xfrm>
          <a:prstGeom prst="ellipse">
            <a:avLst/>
          </a:prstGeom>
          <a:solidFill>
            <a:srgbClr val="141C33">
              <a:alpha val="0"/>
            </a:srgbClr>
          </a:solidFill>
          <a:ln cap="flat" cmpd="sng" w="12700">
            <a:solidFill>
              <a:srgbClr val="1C7293">
                <a:alpha val="5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7534656" y="-91440"/>
            <a:ext cx="5303520" cy="5303520"/>
          </a:xfrm>
          <a:prstGeom prst="ellipse">
            <a:avLst/>
          </a:prstGeom>
          <a:solidFill>
            <a:srgbClr val="141C33">
              <a:alpha val="0"/>
            </a:srgbClr>
          </a:solidFill>
          <a:ln cap="flat" cmpd="sng" w="12700">
            <a:solidFill>
              <a:srgbClr val="065A82">
                <a:alpha val="4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050024" y="-594360"/>
            <a:ext cx="6309360" cy="6309360"/>
          </a:xfrm>
          <a:prstGeom prst="ellipse">
            <a:avLst/>
          </a:prstGeom>
          <a:solidFill>
            <a:srgbClr val="141C33">
              <a:alpha val="0"/>
            </a:srgbClr>
          </a:solidFill>
          <a:ln cap="flat" cmpd="sng" w="12700">
            <a:solidFill>
              <a:srgbClr val="1C7293">
                <a:alpha val="3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565392" y="-731520"/>
            <a:ext cx="7315200" cy="7315200"/>
          </a:xfrm>
          <a:prstGeom prst="ellipse">
            <a:avLst/>
          </a:prstGeom>
          <a:solidFill>
            <a:srgbClr val="141C33">
              <a:alpha val="0"/>
            </a:srgbClr>
          </a:solidFill>
          <a:ln cap="flat" cmpd="sng" w="12700">
            <a:solidFill>
              <a:srgbClr val="065A82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BD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9DBBD0"/>
                </a:solidFill>
                <a:latin typeface="Calibri"/>
                <a:ea typeface="Calibri"/>
                <a:cs typeface="Calibri"/>
                <a:sym typeface="Calibri"/>
              </a:rPr>
              <a:t>Self-improving LLM agents · clinical FHIR benchmarks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94360" y="18288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Cambria"/>
              <a:buNone/>
            </a:pPr>
            <a:r>
              <a:rPr b="1" lang="en-US" sz="7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GRASP</a:t>
            </a:r>
            <a:endParaRPr sz="7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29718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E8833A"/>
                </a:solidFill>
                <a:latin typeface="Cambria"/>
                <a:ea typeface="Cambria"/>
                <a:cs typeface="Cambria"/>
                <a:sym typeface="Cambria"/>
              </a:rPr>
              <a:t>Gated Regression-Aware Skill Proposer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379476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BBD0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9DBBD0"/>
                </a:solidFill>
                <a:latin typeface="Calibri"/>
                <a:ea typeface="Calibri"/>
                <a:cs typeface="Calibri"/>
                <a:sym typeface="Calibri"/>
              </a:rPr>
              <a:t>Agent self-improvement as a sequence of 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validated edits</a:t>
            </a:r>
            <a:r>
              <a:rPr lang="en-US" sz="1700">
                <a:solidFill>
                  <a:srgbClr val="9DBBD0"/>
                </a:solidFill>
                <a:latin typeface="Calibri"/>
                <a:ea typeface="Calibri"/>
                <a:cs typeface="Calibri"/>
                <a:sym typeface="Calibri"/>
              </a:rPr>
              <a:t> to a small, reversible skill library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563624" y="46786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Moll, Corbeil, Pan, Hadamitzky, Rueckert, Adams, Bressem  ·  TU Munich &amp; TUM University Hospital · Microsoft Healthcare &amp; Life Sciences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4529" y="558546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BBD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DBBD0"/>
                </a:solidFill>
                <a:latin typeface="Calibri"/>
                <a:ea typeface="Calibri"/>
                <a:cs typeface="Calibri"/>
                <a:sym typeface="Calibri"/>
              </a:rPr>
              <a:t>*Presentation prepared with Claude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2793" y="679127"/>
            <a:ext cx="8866414" cy="5499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8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E9A8C"/>
                </a:solidFill>
                <a:latin typeface="Calibri"/>
                <a:ea typeface="Calibri"/>
                <a:cs typeface="Calibri"/>
                <a:sym typeface="Calibri"/>
              </a:rPr>
              <a:t>PROMPT  →  SKILL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40080" y="749808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1B2A4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 prompt is what you say. A skill is what the agent keeps.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40080" y="1783080"/>
            <a:ext cx="3611880" cy="4480560"/>
          </a:xfrm>
          <a:prstGeom prst="roundRect">
            <a:avLst>
              <a:gd fmla="val 3038" name="adj"/>
            </a:avLst>
          </a:prstGeom>
          <a:solidFill>
            <a:srgbClr val="FFFFFF"/>
          </a:solidFill>
          <a:ln cap="flat" cmpd="sng" w="12700">
            <a:solidFill>
              <a:srgbClr val="E4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1A2B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1005840" y="2148840"/>
            <a:ext cx="713232" cy="713232"/>
          </a:xfrm>
          <a:prstGeom prst="ellipse">
            <a:avLst/>
          </a:prstGeom>
          <a:solidFill>
            <a:srgbClr val="FFF0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004" y="2318004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/>
          <p:nvPr/>
        </p:nvSpPr>
        <p:spPr>
          <a:xfrm>
            <a:off x="1883664" y="2148840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883664" y="2532888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A45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FF6A45"/>
                </a:solidFill>
                <a:latin typeface="Calibri"/>
                <a:ea typeface="Calibri"/>
                <a:cs typeface="Calibri"/>
                <a:sym typeface="Calibri"/>
              </a:rPr>
              <a:t>A single instruction, used once.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024128" y="3337560"/>
            <a:ext cx="2880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Lives in the context for one turn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44546A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One-shot — re-typed every time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44546A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Nothing persists after the chat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44546A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Great for a quick, specific ask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024128" y="5093208"/>
            <a:ext cx="2843784" cy="914400"/>
          </a:xfrm>
          <a:prstGeom prst="roundRect">
            <a:avLst>
              <a:gd fmla="val 7000" name="adj"/>
            </a:avLst>
          </a:prstGeom>
          <a:solidFill>
            <a:srgbClr val="FFF0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207008" y="5212080"/>
            <a:ext cx="2478024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6A45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6A45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“Write a Python CLI that scores a webpage’s SEO.”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4480560" y="1783080"/>
            <a:ext cx="7068312" cy="448056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12700">
            <a:solidFill>
              <a:srgbClr val="E4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1A2B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846320" y="2148840"/>
            <a:ext cx="713232" cy="713232"/>
          </a:xfrm>
          <a:prstGeom prst="ellipse">
            <a:avLst/>
          </a:prstGeom>
          <a:solidFill>
            <a:srgbClr val="E7F6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5484" y="2318004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3"/>
          <p:cNvSpPr/>
          <p:nvPr/>
        </p:nvSpPr>
        <p:spPr>
          <a:xfrm>
            <a:off x="5724144" y="214884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Skill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724144" y="2551176"/>
            <a:ext cx="5513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8C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0E9A8C"/>
                </a:solidFill>
                <a:latin typeface="Calibri"/>
                <a:ea typeface="Calibri"/>
                <a:cs typeface="Calibri"/>
                <a:sym typeface="Calibri"/>
              </a:rPr>
              <a:t>A reusable capability the agent loads on demand — a real file.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864608" y="2971800"/>
            <a:ext cx="6300216" cy="2697480"/>
          </a:xfrm>
          <a:prstGeom prst="roundRect">
            <a:avLst>
              <a:gd fmla="val 2373" name="adj"/>
            </a:avLst>
          </a:prstGeom>
          <a:solidFill>
            <a:srgbClr val="0E1A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029200" y="3118104"/>
            <a:ext cx="1371600" cy="329184"/>
          </a:xfrm>
          <a:prstGeom prst="roundRect">
            <a:avLst>
              <a:gd fmla="val 13889" name="adj"/>
            </a:avLst>
          </a:prstGeom>
          <a:solidFill>
            <a:srgbClr val="1E304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" name="Google Shape;5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7216" y="3191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5394960" y="3118104"/>
            <a:ext cx="960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SKILL.md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175504" y="3483864"/>
            <a:ext cx="5751576" cy="2093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8C6B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8C6B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name: </a:t>
            </a:r>
            <a:r>
              <a:rPr lang="en-US" sz="1000">
                <a:solidFill>
                  <a:srgbClr val="C7D2E0"/>
                </a:solidFill>
                <a:latin typeface="Courier New"/>
                <a:ea typeface="Courier New"/>
                <a:cs typeface="Courier New"/>
                <a:sym typeface="Courier New"/>
              </a:rPr>
              <a:t>pdf-filler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description: </a:t>
            </a:r>
            <a:r>
              <a:rPr lang="en-US" sz="1000">
                <a:solidFill>
                  <a:srgbClr val="C7D2E0"/>
                </a:solidFill>
                <a:latin typeface="Courier New"/>
                <a:ea typeface="Courier New"/>
                <a:cs typeface="Courier New"/>
                <a:sym typeface="Courier New"/>
              </a:rPr>
              <a:t>Read and fill PDF forms.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C7D2E0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C7D2E0"/>
                </a:solidFill>
                <a:latin typeface="Courier New"/>
                <a:ea typeface="Courier New"/>
                <a:cs typeface="Courier New"/>
                <a:sym typeface="Courier New"/>
              </a:rPr>
              <a:t>  Use whenever a .pdf form needs 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C7D2E0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C7D2E0"/>
                </a:solidFill>
                <a:latin typeface="Courier New"/>
                <a:ea typeface="Courier New"/>
                <a:cs typeface="Courier New"/>
                <a:sym typeface="Courier New"/>
              </a:rPr>
              <a:t>  be completed, merged, or extracted.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8C6B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8C6B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E8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8C6B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8C6B"/>
                </a:solidFill>
                <a:latin typeface="Courier New"/>
                <a:ea typeface="Courier New"/>
                <a:cs typeface="Courier New"/>
                <a:sym typeface="Courier New"/>
              </a:rPr>
              <a:t># PDF Filler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8C6B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8C6B"/>
                </a:solidFill>
                <a:latin typeface="Courier New"/>
                <a:ea typeface="Courier New"/>
                <a:cs typeface="Courier New"/>
                <a:sym typeface="Courier New"/>
              </a:rPr>
              <a:t>## Workflow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7C8AA0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7C8AA0"/>
                </a:solidFill>
                <a:latin typeface="Courier New"/>
                <a:ea typeface="Courier New"/>
                <a:cs typeface="Courier New"/>
                <a:sym typeface="Courier New"/>
              </a:rPr>
              <a:t>1. </a:t>
            </a:r>
            <a:r>
              <a:rPr lang="en-US" sz="1000">
                <a:solidFill>
                  <a:srgbClr val="E8EDF3"/>
                </a:solidFill>
                <a:latin typeface="Courier New"/>
                <a:ea typeface="Courier New"/>
                <a:cs typeface="Courier New"/>
                <a:sym typeface="Courier New"/>
              </a:rPr>
              <a:t>Inspect the form’s field names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7C8AA0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7C8AA0"/>
                </a:solidFill>
                <a:latin typeface="Courier New"/>
                <a:ea typeface="Courier New"/>
                <a:cs typeface="Courier New"/>
                <a:sym typeface="Courier New"/>
              </a:rPr>
              <a:t>2. </a:t>
            </a:r>
            <a:r>
              <a:rPr lang="en-US" sz="1000">
                <a:solidFill>
                  <a:srgbClr val="E8EDF3"/>
                </a:solidFill>
                <a:latin typeface="Courier New"/>
                <a:ea typeface="Courier New"/>
                <a:cs typeface="Courier New"/>
                <a:sym typeface="Courier New"/>
              </a:rPr>
              <a:t>Run “vi data/info.txt” in CLI to extract the information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7C8AA0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7C8AA0"/>
                </a:solidFill>
                <a:latin typeface="Courier New"/>
                <a:ea typeface="Courier New"/>
                <a:cs typeface="Courier New"/>
                <a:sym typeface="Courier New"/>
              </a:rPr>
              <a:t>3. </a:t>
            </a:r>
            <a:r>
              <a:rPr lang="en-US" sz="1000">
                <a:solidFill>
                  <a:srgbClr val="E8EDF3"/>
                </a:solidFill>
                <a:latin typeface="Courier New"/>
                <a:ea typeface="Courier New"/>
                <a:cs typeface="Courier New"/>
                <a:sym typeface="Courier New"/>
              </a:rPr>
              <a:t>Write the output, then verify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864608" y="5779008"/>
            <a:ext cx="6300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E9A8C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E9A8C"/>
                </a:solidFill>
                <a:latin typeface="Calibri"/>
                <a:ea typeface="Calibri"/>
                <a:cs typeface="Calibri"/>
                <a:sym typeface="Calibri"/>
              </a:rPr>
              <a:t>Progressive disclosure:  </a:t>
            </a:r>
            <a:r>
              <a:rPr lang="en-US" sz="115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the model sees only the </a:t>
            </a:r>
            <a:r>
              <a:rPr b="1" lang="en-US" sz="11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r>
              <a:rPr lang="en-US" sz="115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 up front, and loads the full file only when the task calls for it.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8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E9A8C"/>
                </a:solidFill>
                <a:latin typeface="Calibri"/>
                <a:ea typeface="Calibri"/>
                <a:cs typeface="Calibri"/>
                <a:sym typeface="Calibri"/>
              </a:rPr>
              <a:t>AGENT  VS  HARNESS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40080" y="749808"/>
            <a:ext cx="11155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Bookman Old Style"/>
              <a:buNone/>
            </a:pPr>
            <a:r>
              <a:rPr b="1" lang="en-US" sz="3000">
                <a:solidFill>
                  <a:srgbClr val="1B2A4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 harness wraps the agent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40080" y="1737360"/>
            <a:ext cx="3794760" cy="3310128"/>
          </a:xfrm>
          <a:prstGeom prst="roundRect">
            <a:avLst>
              <a:gd fmla="val 3315" name="adj"/>
            </a:avLst>
          </a:prstGeom>
          <a:solidFill>
            <a:srgbClr val="FFFFFF"/>
          </a:solidFill>
          <a:ln cap="flat" cmpd="sng" w="12700">
            <a:solidFill>
              <a:srgbClr val="E4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1A2B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950976" y="2029968"/>
            <a:ext cx="658368" cy="658368"/>
          </a:xfrm>
          <a:prstGeom prst="ellipse">
            <a:avLst/>
          </a:prstGeom>
          <a:solidFill>
            <a:srgbClr val="FFF0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" y="218541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1755648" y="204825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755648" y="235915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A45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FF6A45"/>
                </a:solidFill>
                <a:latin typeface="Calibri"/>
                <a:ea typeface="Calibri"/>
                <a:cs typeface="Calibri"/>
                <a:sym typeface="Calibri"/>
              </a:rPr>
              <a:t>the reasoning entity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950976" y="2852928"/>
            <a:ext cx="3172968" cy="1572768"/>
          </a:xfrm>
          <a:prstGeom prst="roundRect">
            <a:avLst>
              <a:gd fmla="val 4651" name="adj"/>
            </a:avLst>
          </a:prstGeom>
          <a:solidFill>
            <a:srgbClr val="FFF0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2144" y="30358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1536192" y="2980944"/>
            <a:ext cx="2441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Model — reasons &amp; decides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144" y="35112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/>
          <p:nvPr/>
        </p:nvSpPr>
        <p:spPr>
          <a:xfrm>
            <a:off x="1536192" y="3456432"/>
            <a:ext cx="2441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 goal + an identity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2144" y="398678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/>
          <p:nvPr/>
        </p:nvSpPr>
        <p:spPr>
          <a:xfrm>
            <a:off x="1536192" y="3931920"/>
            <a:ext cx="2441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Acts: think → act → observe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950976" y="4535424"/>
            <a:ext cx="31729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A model given a goal: it decides and acts, one turn at a time.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617720" y="1737360"/>
            <a:ext cx="6931152" cy="3310128"/>
          </a:xfrm>
          <a:prstGeom prst="roundRect">
            <a:avLst>
              <a:gd fmla="val 3315" name="adj"/>
            </a:avLst>
          </a:prstGeom>
          <a:solidFill>
            <a:srgbClr val="E7F6F4"/>
          </a:solidFill>
          <a:ln cap="flat" cmpd="sng" w="15875">
            <a:solidFill>
              <a:srgbClr val="0E9A8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E1A2B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928616" y="2011680"/>
            <a:ext cx="658368" cy="658368"/>
          </a:xfrm>
          <a:prstGeom prst="ellipse">
            <a:avLst/>
          </a:prstGeom>
          <a:solidFill>
            <a:srgbClr val="0E9A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4064" y="21671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/>
          <p:nvPr/>
        </p:nvSpPr>
        <p:spPr>
          <a:xfrm>
            <a:off x="5733288" y="2011680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HARNESS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733288" y="232257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8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0E9A8C"/>
                </a:solidFill>
                <a:latin typeface="Calibri"/>
                <a:ea typeface="Calibri"/>
                <a:cs typeface="Calibri"/>
                <a:sym typeface="Calibri"/>
              </a:rPr>
              <a:t>the system the agent runs inside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946904" y="272491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runs the agent(s):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400800" y="2670048"/>
            <a:ext cx="1417320" cy="420624"/>
          </a:xfrm>
          <a:prstGeom prst="roundRect">
            <a:avLst>
              <a:gd fmla="val 19565" name="adj"/>
            </a:avLst>
          </a:prstGeom>
          <a:solidFill>
            <a:srgbClr val="FFFFFF"/>
          </a:solidFill>
          <a:ln cap="flat" cmpd="sng" w="15875">
            <a:solidFill>
              <a:srgbClr val="FF6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" name="Google Shape;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7104" y="27797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/>
          <p:nvPr/>
        </p:nvSpPr>
        <p:spPr>
          <a:xfrm>
            <a:off x="6821424" y="2670048"/>
            <a:ext cx="914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A4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6A45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927848" y="2670048"/>
            <a:ext cx="1417320" cy="420624"/>
          </a:xfrm>
          <a:prstGeom prst="roundRect">
            <a:avLst>
              <a:gd fmla="val 19565" name="adj"/>
            </a:avLst>
          </a:prstGeom>
          <a:solidFill>
            <a:srgbClr val="FFFFFF"/>
          </a:solidFill>
          <a:ln cap="flat" cmpd="sng" w="15875">
            <a:solidFill>
              <a:srgbClr val="FF6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4152" y="27797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8348472" y="2670048"/>
            <a:ext cx="914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A4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6A45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9372600" y="2670048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AAC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8C9AAC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946904" y="3328416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12700">
              <a:srgbClr val="0E1A2B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65776" y="34472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5513832" y="3255264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Loads their skills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104888" y="3328416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12700">
              <a:srgbClr val="0E1A2B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" name="Google Shape;91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23760" y="34472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7671816" y="3255264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Gives tools &amp; context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9262872" y="3328416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12700">
              <a:srgbClr val="0E1A2B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81744" y="34472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/>
          <p:nvPr/>
        </p:nvSpPr>
        <p:spPr>
          <a:xfrm>
            <a:off x="9829800" y="3255264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Runs the agent loop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946904" y="409651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12700">
              <a:srgbClr val="0E1A2B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65776" y="421538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5513832" y="4023360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Logs actions &amp; errors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104888" y="409651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12700">
              <a:srgbClr val="0E1A2B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23760" y="421538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7671816" y="4023360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Evaluates outputs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9262872" y="409651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12700">
              <a:srgbClr val="0E1A2B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81744" y="421538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9829800" y="4023360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Manages many agents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40080" y="5230368"/>
            <a:ext cx="10908792" cy="950976"/>
          </a:xfrm>
          <a:prstGeom prst="roundRect">
            <a:avLst>
              <a:gd fmla="val 9615" name="adj"/>
            </a:avLst>
          </a:prstGeom>
          <a:solidFill>
            <a:srgbClr val="0E1A2B"/>
          </a:solidFill>
          <a:ln>
            <a:noFill/>
          </a:ln>
          <a:effectLst>
            <a:outerShdw blurRad="114300" rotWithShape="0" algn="bl" dir="5400000" dist="38100">
              <a:srgbClr val="0E1A2B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960120" y="5230368"/>
            <a:ext cx="1024128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agent runs inside the harness.  </a:t>
            </a:r>
            <a:r>
              <a:rPr lang="en-US" sz="1500">
                <a:solidFill>
                  <a:srgbClr val="B9C4D2"/>
                </a:solidFill>
                <a:latin typeface="Calibri"/>
                <a:ea typeface="Calibri"/>
                <a:cs typeface="Calibri"/>
                <a:sym typeface="Calibri"/>
              </a:rPr>
              <a:t>One harness can run, equip, log, and grade </a:t>
            </a:r>
            <a:r>
              <a:rPr b="1" lang="en-US" sz="1500">
                <a:solidFill>
                  <a:srgbClr val="FF6A45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lang="en-US" sz="1500">
                <a:solidFill>
                  <a:srgbClr val="B9C4D2"/>
                </a:solidFill>
                <a:latin typeface="Calibri"/>
                <a:ea typeface="Calibri"/>
                <a:cs typeface="Calibri"/>
                <a:sym typeface="Calibri"/>
              </a:rPr>
              <a:t> agents.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347274"/>
            <a:ext cx="7772400" cy="2163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Today’s Paper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BENCHMARKS · TASK EXAMPLES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Task Examples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A6675"/>
                </a:solidFill>
                <a:latin typeface="Calibri"/>
                <a:ea typeface="Calibri"/>
                <a:cs typeface="Calibri"/>
                <a:sym typeface="Calibri"/>
              </a:rPr>
              <a:t>Each task is scored independently against its own patient record. </a:t>
            </a:r>
            <a:r>
              <a:rPr b="1" lang="en-US" sz="1350">
                <a:solidFill>
                  <a:srgbClr val="065A82"/>
                </a:solidFill>
                <a:latin typeface="Courier New"/>
                <a:ea typeface="Courier New"/>
                <a:cs typeface="Courier New"/>
                <a:sym typeface="Courier New"/>
              </a:rPr>
              <a:t>{MRN}</a:t>
            </a:r>
            <a:r>
              <a:rPr lang="en-US" sz="1350">
                <a:solidFill>
                  <a:srgbClr val="5A6675"/>
                </a:solidFill>
                <a:latin typeface="Calibri"/>
                <a:ea typeface="Calibri"/>
                <a:cs typeface="Calibri"/>
                <a:sym typeface="Calibri"/>
              </a:rPr>
              <a:t> is a placeholder for a patient identifier; distinct IDs below denote distinct patients.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337560" y="1783080"/>
            <a:ext cx="5349240" cy="566928"/>
          </a:xfrm>
          <a:prstGeom prst="roundRect">
            <a:avLst>
              <a:gd fmla="val 12903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566160" y="1837944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ACTION TASKS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337560" y="2487168"/>
            <a:ext cx="5349240" cy="859536"/>
          </a:xfrm>
          <a:prstGeom prst="roundRect">
            <a:avLst>
              <a:gd fmla="val 8511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538728" y="2596896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RECORDING PATIENT 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538728" y="2852928"/>
            <a:ext cx="49469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“Record a blood pressure of 118/77 mmHg for patient S6534835.”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337560" y="3465576"/>
            <a:ext cx="5349240" cy="859536"/>
          </a:xfrm>
          <a:prstGeom prst="roundRect">
            <a:avLst>
              <a:gd fmla="val 8511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538728" y="3510861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TEST ORDERING (CONDITIONAL)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511296" y="3757749"/>
            <a:ext cx="49469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“Check patient S3236936's most recent potassium level. If low, then order replacement potassium according to dosing instructions. Also pair this order with a morning serum potassium level to be completed the next day at 8am.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337560" y="4443984"/>
            <a:ext cx="5349240" cy="859536"/>
          </a:xfrm>
          <a:prstGeom prst="roundRect">
            <a:avLst>
              <a:gd fmla="val 8511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538728" y="4553712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MEDICATION ORDERING (CONDITIONAL + DOSING)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538728" y="4809744"/>
            <a:ext cx="49469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“Review potassium (LOINC 2823-3) for S1023381. If &lt;3.5, order 10 mEq oral repletion per 0.1 below goal (NDC 40032-917-01).”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337560" y="5422392"/>
            <a:ext cx="5349240" cy="859536"/>
          </a:xfrm>
          <a:prstGeom prst="roundRect">
            <a:avLst>
              <a:gd fmla="val 8511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538728" y="5532120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REFERRAL / SAFETY PROTOCOL (V2)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538728" y="5788152"/>
            <a:ext cx="494690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“Order an orthopedic referral for S2703270 (ACL tear).”  ·  “For each active opioid order, ensure a matching naloxone prescription.”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Why agents fail — and why prior fixes regress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Structured environments (EHRs, databases, web) impose </a:t>
            </a:r>
            <a:r>
              <a:rPr b="1" lang="en-US" sz="16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operational rules</a:t>
            </a:r>
            <a:r>
              <a:rPr lang="en-US" sz="160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. Agents fail procedurally — wrong resource, missed temporal filter, duplicate order, unverified write — not for lack of language ability.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48640" y="2468880"/>
            <a:ext cx="5349240" cy="2834640"/>
          </a:xfrm>
          <a:prstGeom prst="roundRect">
            <a:avLst>
              <a:gd fmla="val 3226" name="adj"/>
            </a:avLst>
          </a:prstGeom>
          <a:solidFill>
            <a:srgbClr val="EEF3F7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22960" y="267004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Prior self-improvement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822960" y="3127248"/>
            <a:ext cx="48463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Accumulates natural-language guidance monotonically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3648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Reflexion-style critiques or ExpeL-style rules, admitted as soon as produced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3648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No held-out check that a new note preserves prior correct behavior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3648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A note that fixes one trajectory can silently regress another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3648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Unbounded growth dilutes context and degrades the agent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309360" y="2468880"/>
            <a:ext cx="5349240" cy="2834640"/>
          </a:xfrm>
          <a:prstGeom prst="roundRect">
            <a:avLst>
              <a:gd fmla="val 3226" name="adj"/>
            </a:avLst>
          </a:prstGeom>
          <a:solidFill>
            <a:srgbClr val="FBEFE4"/>
          </a:solidFill>
          <a:ln cap="flat" cmpd="sng" w="17775">
            <a:solidFill>
              <a:srgbClr val="E8833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583680" y="267004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What GRASP requires instead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583680" y="3127248"/>
            <a:ext cx="48463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Held-out validation of every candidate before it is admitted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3648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A bounded library that supports modify and remove, not just add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3648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An explicit regression budget on previously correct behavior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3648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Skills are small, versioned, reversible Markdown documents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3648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No parameter updates — improvement lives entirely in context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75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5A6675"/>
                </a:solidFill>
                <a:latin typeface="Calibri"/>
                <a:ea typeface="Calibri"/>
                <a:cs typeface="Calibri"/>
                <a:sym typeface="Calibri"/>
              </a:rPr>
              <a:t>Reliability depends on procedural knowledge of the environment — how to act in it — not on general clinical or language competence.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THE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How GRASP turns failures into validated edits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thod.png"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17320"/>
            <a:ext cx="11155680" cy="3401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THE METHOD · SECTION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Inside GRASP: skills, proposal, and gated selection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48640" y="1554480"/>
            <a:ext cx="3602736" cy="3611880"/>
          </a:xfrm>
          <a:prstGeom prst="roundRect">
            <a:avLst>
              <a:gd fmla="val 2538" name="adj"/>
            </a:avLst>
          </a:prstGeom>
          <a:solidFill>
            <a:srgbClr val="FFFFFF"/>
          </a:solidFill>
          <a:ln cap="flat" cmpd="sng" w="12700">
            <a:solidFill>
              <a:srgbClr val="E1E7E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548640" y="1554480"/>
            <a:ext cx="3602736" cy="713232"/>
          </a:xfrm>
          <a:prstGeom prst="roundRect">
            <a:avLst>
              <a:gd fmla="val 12821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548640" y="1911096"/>
            <a:ext cx="3602736" cy="3566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768096" y="164592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2.1 · THE UNIT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768096" y="1856232"/>
            <a:ext cx="3145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b="1" lang="en-US" sz="16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a skill is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768096" y="2414016"/>
            <a:ext cx="3182112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A structured behavioral instruction injected into context at inference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Four parts: trigger condition, behavioral rule, optional verification step, contrastive example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Written as Markdown + YAML frontmatter — auditable and reversible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Library starts empty; populated only from training trajectories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297680" y="1554480"/>
            <a:ext cx="3602736" cy="3611880"/>
          </a:xfrm>
          <a:prstGeom prst="roundRect">
            <a:avLst>
              <a:gd fmla="val 2538" name="adj"/>
            </a:avLst>
          </a:prstGeom>
          <a:solidFill>
            <a:srgbClr val="FFFFFF"/>
          </a:solidFill>
          <a:ln cap="flat" cmpd="sng" w="12700">
            <a:solidFill>
              <a:srgbClr val="E1E7E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297680" y="1554480"/>
            <a:ext cx="3602736" cy="713232"/>
          </a:xfrm>
          <a:prstGeom prst="roundRect">
            <a:avLst>
              <a:gd fmla="val 12821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297680" y="1911096"/>
            <a:ext cx="3602736" cy="3566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517136" y="164592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2.2 · PROPOSAL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517136" y="1856232"/>
            <a:ext cx="3145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b="1" lang="en-US" sz="16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Failure-driven editing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517136" y="2414016"/>
            <a:ext cx="3182112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Classify: an LLM labels each failed trace by mechanism — two labels imply two different fixes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e.g. date_filter_omitted, not wrong_answer; new labels minted only when none fit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Group by label (no minimum size) — one distinct failure can trigger a proposal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Skill Writer returns ADD / MODIFY / REMOVE to the skills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8046720" y="1554480"/>
            <a:ext cx="3602736" cy="3611880"/>
          </a:xfrm>
          <a:prstGeom prst="roundRect">
            <a:avLst>
              <a:gd fmla="val 2538" name="adj"/>
            </a:avLst>
          </a:prstGeom>
          <a:solidFill>
            <a:srgbClr val="FFFFFF"/>
          </a:solidFill>
          <a:ln cap="flat" cmpd="sng" w="12700">
            <a:solidFill>
              <a:srgbClr val="E1E7E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046720" y="1554480"/>
            <a:ext cx="3602736" cy="713232"/>
          </a:xfrm>
          <a:prstGeom prst="roundRect">
            <a:avLst>
              <a:gd fmla="val 12821" name="adj"/>
            </a:avLst>
          </a:prstGeom>
          <a:solidFill>
            <a:srgbClr val="E883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8046720" y="1911096"/>
            <a:ext cx="3602736" cy="356616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8266176" y="1645920"/>
            <a:ext cx="3145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2.3 · SELECTION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8266176" y="1856232"/>
            <a:ext cx="3145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b="1" lang="en-US" sz="16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Regression-aware gate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8266176" y="2414016"/>
            <a:ext cx="3182112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Each candidate re-run on a balanced probe of previously-failing + previously-passing samples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Probe is out-of-sample, drawn only from the dev split (never val / test)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Current library re-run first for a fresh causal baseline (F₀, R₀)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Accept iff net fixes &gt; 0 AND no new regression (R(c) ≤ R₀); else unchanged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48640" y="5349240"/>
            <a:ext cx="11109960" cy="1024128"/>
          </a:xfrm>
          <a:prstGeom prst="roundRect">
            <a:avLst>
              <a:gd fmla="val 8929" name="adj"/>
            </a:avLst>
          </a:prstGeom>
          <a:solidFill>
            <a:srgbClr val="0F1A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804672" y="5458968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ACCEPTANCE CRITERION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804672" y="5705856"/>
            <a:ext cx="7589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onsolas"/>
              <a:buNone/>
            </a:pPr>
            <a:r>
              <a:rPr b="1" lang="en-US" sz="15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 F(c) − F₀ ) − ( R(c) − R₀ ) &gt; 0</a:t>
            </a:r>
            <a:r>
              <a:rPr lang="en-US" sz="1550">
                <a:solidFill>
                  <a:srgbClr val="9DBBD0"/>
                </a:solidFill>
                <a:latin typeface="Consolas"/>
                <a:ea typeface="Consolas"/>
                <a:cs typeface="Consolas"/>
                <a:sym typeface="Consolas"/>
              </a:rPr>
              <a:t>     and     </a:t>
            </a:r>
            <a:r>
              <a:rPr b="1" lang="en-US" sz="15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R(c) ≤ R₀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8458200" y="5705856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left </a:t>
            </a:r>
            <a:r>
              <a:rPr lang="en-US" sz="1050">
                <a:solidFill>
                  <a:srgbClr val="9DBBD0"/>
                </a:solidFill>
                <a:latin typeface="Calibri"/>
                <a:ea typeface="Calibri"/>
                <a:cs typeface="Calibri"/>
                <a:sym typeface="Calibri"/>
              </a:rPr>
              <a:t>net fixes over regressions   </a:t>
            </a:r>
            <a:r>
              <a:rPr b="1" lang="en-US" sz="105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right </a:t>
            </a:r>
            <a:r>
              <a:rPr lang="en-US" sz="1050">
                <a:solidFill>
                  <a:srgbClr val="9DBBD0"/>
                </a:solidFill>
                <a:latin typeface="Calibri"/>
                <a:ea typeface="Calibri"/>
                <a:cs typeface="Calibri"/>
                <a:sym typeface="Calibri"/>
              </a:rPr>
              <a:t>hard regression budget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804672" y="6089904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0C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DB0C8"/>
                </a:solidFill>
                <a:latin typeface="Calibri"/>
                <a:ea typeface="Calibri"/>
                <a:cs typeface="Calibri"/>
                <a:sym typeface="Calibri"/>
              </a:rPr>
              <a:t>If the winner still causes any regression, a contrastive revision narrows its trigger or adds a guard clause — kept only if it scores strictly higher and stays within budget.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g3f2fcafebe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f2fcafebe9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g3f2fcafebe9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APPENDIX B.1 · ALGORITHM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The per-batch GRASP update, step by step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548640" y="1298448"/>
            <a:ext cx="6903720" cy="5413248"/>
          </a:xfrm>
          <a:prstGeom prst="roundRect">
            <a:avLst>
              <a:gd fmla="val 1351" name="adj"/>
            </a:avLst>
          </a:prstGeom>
          <a:solidFill>
            <a:srgbClr val="0F1A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804672" y="1408176"/>
            <a:ext cx="6446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BD0"/>
              </a:buClr>
              <a:buSzPts val="1000"/>
              <a:buFont typeface="Consolas"/>
              <a:buNone/>
            </a:pPr>
            <a:r>
              <a:rPr i="1" lang="en-US" sz="1000">
                <a:solidFill>
                  <a:srgbClr val="9DBBD0"/>
                </a:solidFill>
                <a:latin typeface="Consolas"/>
                <a:ea typeface="Consolas"/>
                <a:cs typeface="Consolas"/>
                <a:sym typeface="Consolas"/>
              </a:rPr>
              <a:t>Input:  library S · batch B · prior runs H · max proposals K · probe size 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841248" y="1682496"/>
            <a:ext cx="6355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B1D6"/>
              </a:buClr>
              <a:buSzPts val="930"/>
              <a:buFont typeface="Consolas"/>
              <a:buNone/>
            </a:pPr>
            <a:r>
              <a:rPr b="1" i="1" lang="en-US" sz="930">
                <a:solidFill>
                  <a:srgbClr val="6FB1D6"/>
                </a:solidFill>
                <a:latin typeface="Consolas"/>
                <a:ea typeface="Consolas"/>
                <a:cs typeface="Consolas"/>
                <a:sym typeface="Consolas"/>
              </a:rPr>
              <a:t>// 1 — Run batch, record outcomes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585216" y="1879092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88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53688C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841248" y="1879092"/>
            <a:ext cx="6446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B1D6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6FB1D6"/>
                </a:solidFill>
                <a:latin typeface="Consolas"/>
                <a:ea typeface="Consolas"/>
                <a:cs typeface="Consolas"/>
                <a:sym typeface="Consolas"/>
              </a:rPr>
              <a:t>Tᴮ ← run agent with library S on episodes in B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585216" y="2101291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88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53688C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841248" y="2101291"/>
            <a:ext cx="6446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B1D6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6FB1D6"/>
                </a:solidFill>
                <a:latin typeface="Consolas"/>
                <a:ea typeface="Consolas"/>
                <a:cs typeface="Consolas"/>
                <a:sym typeface="Consolas"/>
              </a:rPr>
              <a:t>record per-episode correctness in 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585216" y="2323490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88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53688C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841248" y="2323490"/>
            <a:ext cx="6446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B1D6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6FB1D6"/>
                </a:solidFill>
                <a:latin typeface="Consolas"/>
                <a:ea typeface="Consolas"/>
                <a:cs typeface="Consolas"/>
                <a:sym typeface="Consolas"/>
              </a:rPr>
              <a:t>Fᴮ ← failed traces in Tᴮ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841248" y="2600554"/>
            <a:ext cx="6355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1C0"/>
              </a:buClr>
              <a:buSzPts val="930"/>
              <a:buFont typeface="Consolas"/>
              <a:buNone/>
            </a:pPr>
            <a:r>
              <a:rPr b="1" i="1" lang="en-US" sz="930">
                <a:solidFill>
                  <a:srgbClr val="7FD1C0"/>
                </a:solidFill>
                <a:latin typeface="Consolas"/>
                <a:ea typeface="Consolas"/>
                <a:cs typeface="Consolas"/>
                <a:sym typeface="Consolas"/>
              </a:rPr>
              <a:t>// 2 — Group failures &amp; propose K edits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585216" y="2797150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88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53688C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841248" y="2797150"/>
            <a:ext cx="6446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1C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7FD1C0"/>
                </a:solidFill>
                <a:latin typeface="Consolas"/>
                <a:ea typeface="Consolas"/>
                <a:cs typeface="Consolas"/>
                <a:sym typeface="Consolas"/>
              </a:rPr>
              <a:t>L ← ClassifyByFailureMode(Fᴮ)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85216" y="3019349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88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53688C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841248" y="3019349"/>
            <a:ext cx="6446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1C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7FD1C0"/>
                </a:solidFill>
                <a:latin typeface="Consolas"/>
                <a:ea typeface="Consolas"/>
                <a:cs typeface="Consolas"/>
                <a:sym typeface="Consolas"/>
              </a:rPr>
              <a:t>{Cₖ} ← Propose(Fᴮ, L, S)      // K candidates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841248" y="3296412"/>
            <a:ext cx="6355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872"/>
              </a:buClr>
              <a:buSzPts val="930"/>
              <a:buFont typeface="Consolas"/>
              <a:buNone/>
            </a:pPr>
            <a:r>
              <a:rPr b="1" i="1" lang="en-US" sz="930">
                <a:solidFill>
                  <a:srgbClr val="F2B872"/>
                </a:solidFill>
                <a:latin typeface="Consolas"/>
                <a:ea typeface="Consolas"/>
                <a:cs typeface="Consolas"/>
                <a:sym typeface="Consolas"/>
              </a:rPr>
              <a:t>// 3 — Build probe (never touches val / test)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585216" y="3493008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88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53688C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841248" y="3493008"/>
            <a:ext cx="6446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872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2B872"/>
                </a:solidFill>
                <a:latin typeface="Consolas"/>
                <a:ea typeface="Consolas"/>
                <a:cs typeface="Consolas"/>
                <a:sym typeface="Consolas"/>
              </a:rPr>
              <a:t>P_fail, P_pass ← StratifiedSample(H\B, N/2, N/2)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841248" y="3770071"/>
            <a:ext cx="6355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C0"/>
              </a:buClr>
              <a:buSzPts val="930"/>
              <a:buFont typeface="Consolas"/>
              <a:buNone/>
            </a:pPr>
            <a:r>
              <a:rPr b="1" i="1" lang="en-US" sz="930">
                <a:solidFill>
                  <a:srgbClr val="E8A0C0"/>
                </a:solidFill>
                <a:latin typeface="Consolas"/>
                <a:ea typeface="Consolas"/>
                <a:cs typeface="Consolas"/>
                <a:sym typeface="Consolas"/>
              </a:rPr>
              <a:t>// 4 — Baseline: re-run current S on probe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85216" y="3966667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88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53688C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841248" y="3966667"/>
            <a:ext cx="6446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C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A0C0"/>
                </a:solidFill>
                <a:latin typeface="Consolas"/>
                <a:ea typeface="Consolas"/>
                <a:cs typeface="Consolas"/>
                <a:sym typeface="Consolas"/>
              </a:rPr>
              <a:t>F₀ ← |{x∈P_fail : x passes under S}|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585216" y="4188866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88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53688C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41248" y="4188866"/>
            <a:ext cx="6446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C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A0C0"/>
                </a:solidFill>
                <a:latin typeface="Consolas"/>
                <a:ea typeface="Consolas"/>
                <a:cs typeface="Consolas"/>
                <a:sym typeface="Consolas"/>
              </a:rPr>
              <a:t>R₀ ← |{x∈P_pass : x fails under S}|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841248" y="4465930"/>
            <a:ext cx="6355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3F0"/>
              </a:buClr>
              <a:buSzPts val="930"/>
              <a:buFont typeface="Consolas"/>
              <a:buNone/>
            </a:pPr>
            <a:r>
              <a:rPr b="1" i="1" lang="en-US" sz="930">
                <a:solidFill>
                  <a:srgbClr val="C9B3F0"/>
                </a:solidFill>
                <a:latin typeface="Consolas"/>
                <a:ea typeface="Consolas"/>
                <a:cs typeface="Consolas"/>
                <a:sym typeface="Consolas"/>
              </a:rPr>
              <a:t>// 5 — Score each candidate on the same probe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585216" y="4662526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88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53688C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841248" y="4662526"/>
            <a:ext cx="6446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3F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C9B3F0"/>
                </a:solidFill>
                <a:latin typeface="Consolas"/>
                <a:ea typeface="Consolas"/>
                <a:cs typeface="Consolas"/>
                <a:sym typeface="Consolas"/>
              </a:rPr>
              <a:t>for c in {C₁..Cₖ}: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85216" y="4884725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88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53688C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1078992" y="4884725"/>
            <a:ext cx="6208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3F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C9B3F0"/>
                </a:solidFill>
                <a:latin typeface="Consolas"/>
                <a:ea typeface="Consolas"/>
                <a:cs typeface="Consolas"/>
                <a:sym typeface="Consolas"/>
              </a:rPr>
              <a:t>Sᶜ ← apply c to a fork of 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85216" y="5106924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88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53688C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1078992" y="5106924"/>
            <a:ext cx="6208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3F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C9B3F0"/>
                </a:solidFill>
                <a:latin typeface="Consolas"/>
                <a:ea typeface="Consolas"/>
                <a:cs typeface="Consolas"/>
                <a:sym typeface="Consolas"/>
              </a:rPr>
              <a:t>compute F(c), R(c) on probe under Sᶜ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585216" y="5329123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88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53688C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1078992" y="5329123"/>
            <a:ext cx="6208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3F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C9B3F0"/>
                </a:solidFill>
                <a:latin typeface="Consolas"/>
                <a:ea typeface="Consolas"/>
                <a:cs typeface="Consolas"/>
                <a:sym typeface="Consolas"/>
              </a:rPr>
              <a:t>score(c) ← (F(c)−F₀) − (R(c)−R₀)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841248" y="5606186"/>
            <a:ext cx="6355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9A5B"/>
              </a:buClr>
              <a:buSzPts val="930"/>
              <a:buFont typeface="Consolas"/>
              <a:buNone/>
            </a:pPr>
            <a:r>
              <a:rPr b="1" i="1" lang="en-US" sz="930">
                <a:solidFill>
                  <a:srgbClr val="F09A5B"/>
                </a:solidFill>
                <a:latin typeface="Consolas"/>
                <a:ea typeface="Consolas"/>
                <a:cs typeface="Consolas"/>
                <a:sym typeface="Consolas"/>
              </a:rPr>
              <a:t>// 6 — Accept best within regression budget</a:t>
            </a:r>
            <a:endParaRPr sz="9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585216" y="5802782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88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53688C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841248" y="5802782"/>
            <a:ext cx="6446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9A5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09A5B"/>
                </a:solidFill>
                <a:latin typeface="Consolas"/>
                <a:ea typeface="Consolas"/>
                <a:cs typeface="Consolas"/>
                <a:sym typeface="Consolas"/>
              </a:rPr>
              <a:t>C* ← {c : score(c) &gt; 0 and R(c) ≤ R₀}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85216" y="6024982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88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53688C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841248" y="6024982"/>
            <a:ext cx="6446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9A5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09A5B"/>
                </a:solidFill>
                <a:latin typeface="Consolas"/>
                <a:ea typeface="Consolas"/>
                <a:cs typeface="Consolas"/>
                <a:sym typeface="Consolas"/>
              </a:rPr>
              <a:t>c* ← argmax score(c)     // if C* nonempty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85216" y="6247181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88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53688C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841248" y="6247181"/>
            <a:ext cx="6446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9A5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09A5B"/>
                </a:solidFill>
                <a:latin typeface="Consolas"/>
                <a:ea typeface="Consolas"/>
                <a:cs typeface="Consolas"/>
                <a:sym typeface="Consolas"/>
              </a:rPr>
              <a:t>if R(c*)&gt;0: c* ← ContrastiveRevision(c*)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85216" y="6469380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88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53688C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841248" y="6469380"/>
            <a:ext cx="6446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9A5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09A5B"/>
                </a:solidFill>
                <a:latin typeface="Consolas"/>
                <a:ea typeface="Consolas"/>
                <a:cs typeface="Consolas"/>
                <a:sym typeface="Consolas"/>
              </a:rPr>
              <a:t>S ← apply c* to S      →  return 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7680960" y="1298448"/>
            <a:ext cx="3977640" cy="749808"/>
          </a:xfrm>
          <a:prstGeom prst="roundRect">
            <a:avLst>
              <a:gd fmla="val 10976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7863840" y="1472184"/>
            <a:ext cx="310896" cy="310896"/>
          </a:xfrm>
          <a:prstGeom prst="ellipse">
            <a:avLst/>
          </a:prstGeom>
          <a:solidFill>
            <a:srgbClr val="4E9AC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7863840" y="147218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8284464" y="142646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Run &amp; record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8284464" y="1719072"/>
            <a:ext cx="3154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Execute the agent on the batch with the current library; log which episodes pass or fail.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7680960" y="2147011"/>
            <a:ext cx="3977640" cy="859536"/>
          </a:xfrm>
          <a:prstGeom prst="roundRect">
            <a:avLst>
              <a:gd fmla="val 9574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7863840" y="2320747"/>
            <a:ext cx="310896" cy="310896"/>
          </a:xfrm>
          <a:prstGeom prst="ellipse">
            <a:avLst/>
          </a:prstGeom>
          <a:solidFill>
            <a:srgbClr val="4FB9A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7863840" y="2320747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8284464" y="2275027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Group &amp; propose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8284464" y="2567635"/>
            <a:ext cx="315468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Cluster failures by mechanism, then write K candidate edits (add / modify / remove) for the most frequent modes.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7680960" y="3105302"/>
            <a:ext cx="3977640" cy="786384"/>
          </a:xfrm>
          <a:prstGeom prst="roundRect">
            <a:avLst>
              <a:gd fmla="val 10465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7863840" y="3279038"/>
            <a:ext cx="310896" cy="310896"/>
          </a:xfrm>
          <a:prstGeom prst="ellipse">
            <a:avLst/>
          </a:prstGeom>
          <a:solidFill>
            <a:srgbClr val="E09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7863840" y="327903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8284464" y="323331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Construct probe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8284464" y="3525926"/>
            <a:ext cx="3154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Sample a balanced, stratified probe from earlier dev runs — strictly out-of-sample, never val or test.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7680960" y="3990442"/>
            <a:ext cx="3977640" cy="786384"/>
          </a:xfrm>
          <a:prstGeom prst="roundRect">
            <a:avLst>
              <a:gd fmla="val 10465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7863840" y="4164178"/>
            <a:ext cx="310896" cy="310896"/>
          </a:xfrm>
          <a:prstGeom prst="ellipse">
            <a:avLst/>
          </a:prstGeom>
          <a:solidFill>
            <a:srgbClr val="D57BA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7863840" y="416417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8284464" y="411845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Causal baseline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8284464" y="4411066"/>
            <a:ext cx="3154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Re-run the current library on that probe for fresh fix / regress counts F₀, R₀ under today's state.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7680960" y="4875581"/>
            <a:ext cx="3977640" cy="749808"/>
          </a:xfrm>
          <a:prstGeom prst="roundRect">
            <a:avLst>
              <a:gd fmla="val 10976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7863840" y="5049317"/>
            <a:ext cx="310896" cy="310896"/>
          </a:xfrm>
          <a:prstGeom prst="ellipse">
            <a:avLst/>
          </a:prstGeom>
          <a:solidFill>
            <a:srgbClr val="9F8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7863840" y="5049317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8284464" y="5003597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Score candidates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8284464" y="5296205"/>
            <a:ext cx="3154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For each fork, recount fixes and regressions: score = net fixes minus net regressions.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7680960" y="5724144"/>
            <a:ext cx="3977640" cy="822960"/>
          </a:xfrm>
          <a:prstGeom prst="roundRect">
            <a:avLst>
              <a:gd fmla="val 10000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7863840" y="5897880"/>
            <a:ext cx="310896" cy="310896"/>
          </a:xfrm>
          <a:prstGeom prst="ellipse">
            <a:avLst/>
          </a:prstGeom>
          <a:solidFill>
            <a:srgbClr val="E883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7863840" y="58978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8284464" y="58521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Gate &amp; commit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8284464" y="614476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Keep the top candidate that clears the budget; if it still regresses, revise its trigger — else leave S unchanged.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BENCHMARKS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FHIR clinical agent environments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Agents query a live FHIR server via GET/POST calls, within an 8-action budget. Scoring is exact-match against ground-truth answers and server state.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548640" y="1965960"/>
            <a:ext cx="3529584" cy="278892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548640" y="1965960"/>
            <a:ext cx="3529584" cy="658368"/>
          </a:xfrm>
          <a:prstGeom prst="roundRect">
            <a:avLst>
              <a:gd fmla="val 13889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548640" y="2295144"/>
            <a:ext cx="3529584" cy="329184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731520" y="2039112"/>
            <a:ext cx="31638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b="1" lang="en-US" sz="16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MedAgentBench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731520" y="2350008"/>
            <a:ext cx="31638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1F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AF1F6"/>
                </a:solidFill>
                <a:latin typeface="Calibri"/>
                <a:ea typeface="Calibri"/>
                <a:cs typeface="Calibri"/>
                <a:sym typeface="Calibri"/>
              </a:rPr>
              <a:t>Jiang et al., 2025 · NEJM AI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731520" y="2743200"/>
            <a:ext cx="3163824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80"/>
              <a:buFont typeface="Calibri"/>
              <a:buChar char="•"/>
            </a:pPr>
            <a:r>
              <a:rPr lang="en-US" sz="118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300 physician-written tasks, 10 categories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3648"/>
              </a:buClr>
              <a:buSzPts val="1180"/>
              <a:buFont typeface="Calibri"/>
              <a:buChar char="•"/>
            </a:pPr>
            <a:r>
              <a:rPr lang="en-US" sz="118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100 patient profiles, 700k+ records (Stanford STARR)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3648"/>
              </a:buClr>
              <a:buSzPts val="1180"/>
              <a:buFont typeface="Calibri"/>
              <a:buChar char="•"/>
            </a:pPr>
            <a:r>
              <a:rPr lang="en-US" sz="118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Retrieval, medication reconciliation, verified writes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3648"/>
              </a:buClr>
              <a:buSzPts val="1180"/>
              <a:buFont typeface="Calibri"/>
              <a:buChar char="•"/>
            </a:pPr>
            <a:r>
              <a:rPr lang="en-US" sz="118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~2–3 steps per task; query + action types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4325112" y="1965960"/>
            <a:ext cx="3529584" cy="278892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4325112" y="1965960"/>
            <a:ext cx="3529584" cy="658368"/>
          </a:xfrm>
          <a:prstGeom prst="roundRect">
            <a:avLst>
              <a:gd fmla="val 13889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4325112" y="2295144"/>
            <a:ext cx="3529584" cy="329184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4507992" y="2039112"/>
            <a:ext cx="31638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b="1" lang="en-US" sz="16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MedAgentBench-v2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4507992" y="2350008"/>
            <a:ext cx="31638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1F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AF1F6"/>
                </a:solidFill>
                <a:latin typeface="Calibri"/>
                <a:ea typeface="Calibri"/>
                <a:cs typeface="Calibri"/>
                <a:sym typeface="Calibri"/>
              </a:rPr>
              <a:t>Chen et al., 2025 · PSB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507992" y="2743200"/>
            <a:ext cx="3163824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80"/>
              <a:buFont typeface="Calibri"/>
              <a:buChar char="•"/>
            </a:pPr>
            <a:r>
              <a:rPr lang="en-US" sz="118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10 redesigned task types with safety protocols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3648"/>
              </a:buClr>
              <a:buSzPts val="1180"/>
              <a:buFont typeface="Calibri"/>
              <a:buChar char="•"/>
            </a:pPr>
            <a:r>
              <a:rPr lang="en-US" sz="118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Multi-step decision logic &amp; coordinated writes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3648"/>
              </a:buClr>
              <a:buSzPts val="1180"/>
              <a:buFont typeface="Calibri"/>
              <a:buChar char="•"/>
            </a:pPr>
            <a:r>
              <a:rPr lang="en-US" sz="118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Anticoagulation, QTc, opioid–naloxone, oncology referral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3648"/>
              </a:buClr>
              <a:buSzPts val="1180"/>
              <a:buFont typeface="Calibri"/>
              <a:buChar char="•"/>
            </a:pPr>
            <a:r>
              <a:rPr lang="en-US" sz="118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Independent held-out OOD workflows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8101584" y="1965960"/>
            <a:ext cx="3529584" cy="278892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8101584" y="1965960"/>
            <a:ext cx="3529584" cy="658368"/>
          </a:xfrm>
          <a:prstGeom prst="roundRect">
            <a:avLst>
              <a:gd fmla="val 13889" name="adj"/>
            </a:avLst>
          </a:prstGeom>
          <a:solidFill>
            <a:srgbClr val="21295C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8101584" y="2295144"/>
            <a:ext cx="3529584" cy="329184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8284464" y="2039112"/>
            <a:ext cx="31638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b="1" lang="en-US" sz="16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FHIR-AgentBench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8284464" y="2350008"/>
            <a:ext cx="31638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1F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AF1F6"/>
                </a:solidFill>
                <a:latin typeface="Calibri"/>
                <a:ea typeface="Calibri"/>
                <a:cs typeface="Calibri"/>
                <a:sym typeface="Calibri"/>
              </a:rPr>
              <a:t>Lee et al., 2025 (supporting)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8284464" y="2743200"/>
            <a:ext cx="3163824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80"/>
              <a:buFont typeface="Calibri"/>
              <a:buChar char="•"/>
            </a:pPr>
            <a:r>
              <a:rPr lang="en-US" sz="118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Read-only structured clinical QA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3648"/>
              </a:buClr>
              <a:buSzPts val="1180"/>
              <a:buFont typeface="Calibri"/>
              <a:buChar char="•"/>
            </a:pPr>
            <a:r>
              <a:rPr lang="en-US" sz="118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MIMIC-IV FHIR on Google Cloud Healthcare API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3648"/>
              </a:buClr>
              <a:buSzPts val="1180"/>
              <a:buFont typeface="Calibri"/>
              <a:buChar char="•"/>
            </a:pPr>
            <a:r>
              <a:rPr lang="en-US" sz="118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Python-tool + free-text interface (different convention)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3648"/>
              </a:buClr>
              <a:buSzPts val="1180"/>
              <a:buFont typeface="Calibri"/>
              <a:buChar char="•"/>
            </a:pPr>
            <a:r>
              <a:rPr lang="en-US" sz="118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LLM-judged answer accuracy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COMPARISON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Baselines: memory, rules, and skill libraries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5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5A6675"/>
                </a:solidFill>
                <a:latin typeface="Calibri"/>
                <a:ea typeface="Calibri"/>
                <a:cs typeface="Calibri"/>
                <a:sym typeface="Calibri"/>
              </a:rPr>
              <a:t>All methods share the same base agent, decoding, training episodes, and injection field — isolating the learned content and update rule.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548640" y="1920240"/>
            <a:ext cx="5440680" cy="1243584"/>
          </a:xfrm>
          <a:prstGeom prst="roundRect">
            <a:avLst>
              <a:gd fmla="val 6618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749808" y="2139696"/>
            <a:ext cx="822960" cy="822960"/>
          </a:xfrm>
          <a:prstGeom prst="ellipse">
            <a:avLst/>
          </a:prstGeom>
          <a:solidFill>
            <a:srgbClr val="8A94A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749808" y="2249424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1719072" y="2048256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No skills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1719072" y="237744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The bare agent with no learned guidance — the floor every method is measured against.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6172200" y="1920240"/>
            <a:ext cx="5440680" cy="1243584"/>
          </a:xfrm>
          <a:prstGeom prst="roundRect">
            <a:avLst>
              <a:gd fmla="val 6618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6373368" y="2139696"/>
            <a:ext cx="822960" cy="8229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6373368" y="2249424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7342632" y="2048256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Sequential memory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7342632" y="237744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Appends a natural-language correction note after each failing episode; memory grows unbounded with no acceptance gate.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548640" y="3310128"/>
            <a:ext cx="5440680" cy="1243584"/>
          </a:xfrm>
          <a:prstGeom prst="roundRect">
            <a:avLst>
              <a:gd fmla="val 6618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749808" y="3529584"/>
            <a:ext cx="822960" cy="8229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749808" y="3639312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1719072" y="3438144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Batch memory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1719072" y="3767328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Same as sequential but updated once per batch, matching GRASP's cadence to isolate the gate from update frequency.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6172200" y="3310128"/>
            <a:ext cx="5440680" cy="1243584"/>
          </a:xfrm>
          <a:prstGeom prst="roundRect">
            <a:avLst>
              <a:gd fmla="val 6618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6373368" y="3529584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6373368" y="3639312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7342632" y="3438144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ExpeL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7342632" y="3767328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Extracts contrastive rules by pairing failing traces with nearest successes; AGREE/EDIT/REMOVE/ADD on a rule list capped at 20.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548640" y="4700016"/>
            <a:ext cx="5440680" cy="1243584"/>
          </a:xfrm>
          <a:prstGeom prst="roundRect">
            <a:avLst>
              <a:gd fmla="val 6618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749808" y="4919472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749808" y="502920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1719072" y="482803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Evo-MedAgent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1719072" y="5157216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Maintains episodic + semantic memory stores with top-k retrieval and per-rule utility tracking, but no probe-based gate.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6172200" y="4700016"/>
            <a:ext cx="5440680" cy="1243584"/>
          </a:xfrm>
          <a:prstGeom prst="roundRect">
            <a:avLst>
              <a:gd fmla="val 6618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6373368" y="4919472"/>
            <a:ext cx="822960" cy="82296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6373368" y="502920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7342632" y="482803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SkillX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7342632" y="5157216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Extracts skills from successful trajectories via LLM decomposition, retrieved by token overlap, with no regression control.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RESULTS — HEADLINE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GRASP wins on every model, in-domain and OOD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main.png" id="351" name="Google Shape;35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554480"/>
            <a:ext cx="7680960" cy="416052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3"/>
          <p:cNvSpPr/>
          <p:nvPr/>
        </p:nvSpPr>
        <p:spPr>
          <a:xfrm>
            <a:off x="685800" y="5779008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75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A6675"/>
                </a:solidFill>
                <a:latin typeface="Calibri"/>
                <a:ea typeface="Calibri"/>
                <a:cs typeface="Calibri"/>
                <a:sym typeface="Calibri"/>
              </a:rPr>
              <a:t>MedAgentBench in-domain test 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8595360" y="1554480"/>
            <a:ext cx="3063240" cy="4434840"/>
          </a:xfrm>
          <a:prstGeom prst="roundRect">
            <a:avLst>
              <a:gd fmla="val 2985" name="adj"/>
            </a:avLst>
          </a:prstGeom>
          <a:solidFill>
            <a:srgbClr val="FBEFE4"/>
          </a:solidFill>
          <a:ln cap="flat" cmpd="sng" w="15225">
            <a:solidFill>
              <a:srgbClr val="E88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8823960" y="16916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E8833A"/>
                </a:solidFill>
                <a:latin typeface="Cambria"/>
                <a:ea typeface="Cambria"/>
                <a:cs typeface="Cambria"/>
                <a:sym typeface="Cambria"/>
              </a:rPr>
              <a:t>Takeaways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8823960" y="2148840"/>
            <a:ext cx="265176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gpt-oss-120b: 40.6 → 88.8%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+48.2 over no-skills, +21.0 over the best baseline (Evo-MedAgent)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Every model improves 17.2–40.3 points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GPT-5.4 +40.3 · GPT-4.1 +39.4 · DeepSeek +22.3 · Gemini +17.2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OOD lead is larger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e.g. GPT-5.4 80.6% vs 16.7% best baseline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4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RESULTS — FULL TABLE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Table 1 · Test accuracy on two FHIR benchmarks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3" name="Google Shape;363;p14"/>
          <p:cNvGraphicFramePr/>
          <p:nvPr/>
        </p:nvGraphicFramePr>
        <p:xfrm>
          <a:off x="54864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{6F98ECE6-A58D-4028-ADBC-C6851BD84B09}</a:tableStyleId>
              </a:tblPr>
              <a:tblGrid>
                <a:gridCol w="1783075"/>
                <a:gridCol w="1005850"/>
                <a:gridCol w="1005850"/>
                <a:gridCol w="1005850"/>
                <a:gridCol w="1005850"/>
                <a:gridCol w="1005850"/>
                <a:gridCol w="10058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MedAgentBench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MedAgentBench-v2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 hMerge="1"/>
                <a:tc hMerge="1"/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Val*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Val*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</a:tr>
              <a:tr h="237750">
                <a:tc gridSpan="7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gpt-oss-120b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507A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skills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36.4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57.6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61.1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75.2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Evo-MedAgent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62.5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67.8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31.3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SkillX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51.5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53.1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67.5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87.1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GRASP (ours)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77.0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</a:tr>
              <a:tr h="237750">
                <a:tc gridSpan="7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GPT-5.4 (low)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507A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skills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63.5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59.9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baseline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47.9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47.4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70.4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63.5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GRASP (ours)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84.6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71.2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63.3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</a:tr>
              <a:tr h="237750">
                <a:tc gridSpan="7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i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GPT-4.1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507A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skills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70.5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84.9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baseline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46.2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47.4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72.5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74.0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84.4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GRASP (ours)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84.9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73.8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70.3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</a:tr>
            </a:tbl>
          </a:graphicData>
        </a:graphic>
      </p:graphicFrame>
      <p:sp>
        <p:nvSpPr>
          <p:cNvPr id="364" name="Google Shape;364;p14"/>
          <p:cNvSpPr/>
          <p:nvPr/>
        </p:nvSpPr>
        <p:spPr>
          <a:xfrm>
            <a:off x="548640" y="59893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5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5A6675"/>
                </a:solidFill>
                <a:latin typeface="Calibri"/>
                <a:ea typeface="Calibri"/>
                <a:cs typeface="Calibri"/>
                <a:sym typeface="Calibri"/>
              </a:rPr>
              <a:t>Bold = best in column within a model. Val* = best validation across epochs; OOD = held-out task types. Full table covers all five models × six baselines.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8641080" y="1463040"/>
            <a:ext cx="3017520" cy="4480560"/>
          </a:xfrm>
          <a:prstGeom prst="roundRect">
            <a:avLst>
              <a:gd fmla="val 3030" name="adj"/>
            </a:avLst>
          </a:prstGeom>
          <a:solidFill>
            <a:srgbClr val="EEF3F7"/>
          </a:solidFill>
          <a:ln cap="flat" cmpd="sng" w="1270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8851392" y="16002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Reading the table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8851392" y="2011680"/>
            <a:ext cx="26060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MedAgentBench: </a:t>
            </a:r>
            <a:r>
              <a:rPr lang="en-US" sz="120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GRASP is strongest on every model, in-domain and OOD.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v2 is more mixed: </a:t>
            </a:r>
            <a:r>
              <a:rPr lang="en-US" sz="120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GRASP leads in-domain on 3 of 5 models. On GPT-4.1/GPT-5.4 it ties baselines where the 8-action budget is exhausted on paginated search.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67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5A6675"/>
                </a:solidFill>
                <a:latin typeface="Calibri"/>
                <a:ea typeface="Calibri"/>
                <a:cs typeface="Calibri"/>
                <a:sym typeface="Calibri"/>
              </a:rPr>
              <a:t>v2 OOD: </a:t>
            </a:r>
            <a:r>
              <a:rPr lang="en-US" sz="120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closely matched; no superiority claimed.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WHY IT WORKS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Stable learning, and the gate is the source of the gain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548640" y="1481328"/>
            <a:ext cx="5532120" cy="41148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E1E7E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777240" y="159105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Learning stability (Figure 1)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1_470.png" id="377" name="Google Shape;3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011680"/>
            <a:ext cx="4983480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5"/>
          <p:cNvSpPr/>
          <p:nvPr/>
        </p:nvSpPr>
        <p:spPr>
          <a:xfrm>
            <a:off x="777240" y="5230368"/>
            <a:ext cx="5074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5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A6675"/>
                </a:solidFill>
                <a:latin typeface="Calibri"/>
                <a:ea typeface="Calibri"/>
                <a:cs typeface="Calibri"/>
                <a:sym typeface="Calibri"/>
              </a:rPr>
              <a:t>GRASP rises near-monotonically, stable &gt;85% from epoch 3. Memory baselines regress below no-skills as context accumulates; Evo oscillates &gt;20 pts.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6263640" y="1481328"/>
            <a:ext cx="5394960" cy="41148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E1E7E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6492240" y="1591056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Ablations (Table 4)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ablation.png" id="381" name="Google Shape;38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2011680"/>
            <a:ext cx="512064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5"/>
          <p:cNvSpPr/>
          <p:nvPr/>
        </p:nvSpPr>
        <p:spPr>
          <a:xfrm>
            <a:off x="6492240" y="4572000"/>
            <a:ext cx="4983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Removing the acceptance gate is decisive: </a:t>
            </a: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K=1 with no gate falls to 40.1% — the no-skills baseline. Skill writing alone is no better than no skills.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6492240" y="5138928"/>
            <a:ext cx="4983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Matched-compute controls</a:t>
            </a: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 spend the full probe budget but discard its verdict → stay at no-gate level. The gain is the validation </a:t>
            </a:r>
            <a:r>
              <a:rPr i="1"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, not the compute.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GENERALIZATION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Frozen skill libraries transfer across models &amp; benchmarks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Cross-model transfer (MedAgentBench)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2" name="Google Shape;392;p16"/>
          <p:cNvGraphicFramePr/>
          <p:nvPr/>
        </p:nvGraphicFramePr>
        <p:xfrm>
          <a:off x="54864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{6F98ECE6-A58D-4028-ADBC-C6851BD84B09}</a:tableStyleId>
              </a:tblPr>
              <a:tblGrid>
                <a:gridCol w="1965950"/>
                <a:gridCol w="685800"/>
                <a:gridCol w="960125"/>
                <a:gridCol w="960125"/>
                <a:gridCol w="96012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 source ↓ / Executor →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Split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gpt-oss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GPT-5.4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54.2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gpt-oss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79.7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72.4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36.1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51.7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GPT-5.4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6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B364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77.8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71.1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83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88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DA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4"/>
                    </a:solidFill>
                  </a:tcPr>
                </a:tc>
              </a:tr>
            </a:tbl>
          </a:graphicData>
        </a:graphic>
      </p:graphicFrame>
      <p:sp>
        <p:nvSpPr>
          <p:cNvPr id="393" name="Google Shape;393;p16"/>
          <p:cNvSpPr/>
          <p:nvPr/>
        </p:nvSpPr>
        <p:spPr>
          <a:xfrm>
            <a:off x="548640" y="3977640"/>
            <a:ext cx="5532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A stronger writer (GPT-5.4) lifts every weaker executor's OOD beyond self-training — the reverse never holds. </a:t>
            </a:r>
            <a:r>
              <a:rPr b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No ungated baseline reproduces this asymmetry</a:t>
            </a:r>
            <a:r>
              <a:rPr lang="en-US" sz="120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 (Appendix E.5).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6355080" y="14173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Cross-benchmark transfer (gpt-oss-120b)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6355080" y="1828800"/>
            <a:ext cx="5303520" cy="914400"/>
          </a:xfrm>
          <a:prstGeom prst="roundRect">
            <a:avLst>
              <a:gd fmla="val 9000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6537960" y="2103120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7040880" y="194767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MAB ↔ MAB-v2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7040880" y="2249424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Positive both ways — shared tool-calling convention. MAB skills reach 78.1% on v2 (&gt; v2 self-training).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6355080" y="2880360"/>
            <a:ext cx="5303520" cy="914400"/>
          </a:xfrm>
          <a:prstGeom prst="roundRect">
            <a:avLst>
              <a:gd fmla="val 9000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6537960" y="3154680"/>
            <a:ext cx="365760" cy="365760"/>
          </a:xfrm>
          <a:prstGeom prst="ellipse">
            <a:avLst/>
          </a:prstGeom>
          <a:solidFill>
            <a:srgbClr val="E883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7040880" y="299923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→ FHIR-AgentBench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7040880" y="3300984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Every transferred library degrades it: a different Python-tool / free-text interface yields malformed calls.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6355080" y="3931920"/>
            <a:ext cx="5303520" cy="914400"/>
          </a:xfrm>
          <a:prstGeom prst="roundRect">
            <a:avLst>
              <a:gd fmla="val 9000" name="adj"/>
            </a:avLst>
          </a:prstGeom>
          <a:solidFill>
            <a:srgbClr val="EEF3F7"/>
          </a:solidFill>
          <a:ln cap="flat" cmpd="sng" w="12700">
            <a:solidFill>
              <a:srgbClr val="DC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6537960" y="4206240"/>
            <a:ext cx="365760" cy="365760"/>
          </a:xfrm>
          <a:prstGeom prst="ellipse">
            <a:avLst/>
          </a:prstGeom>
          <a:solidFill>
            <a:srgbClr val="8A94A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7040880" y="40507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DBBench control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7040880" y="4352544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364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The non-clinical control transfers negatively or neutrally to every clinical target.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6355080" y="507492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5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A6675"/>
                </a:solidFill>
                <a:latin typeface="Calibri"/>
                <a:ea typeface="Calibri"/>
                <a:cs typeface="Calibri"/>
                <a:sym typeface="Calibri"/>
              </a:rPr>
              <a:t>What transfers is procedural knowledge tied to an environment and its interface — not clinical FHIR competence in general.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7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SCOPE &amp; PRACTICALITY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Where it generalizes — and why it's deployable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nonmed.png" id="415" name="Google Shape;4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00200"/>
            <a:ext cx="5852160" cy="33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7"/>
          <p:cNvSpPr/>
          <p:nvPr/>
        </p:nvSpPr>
        <p:spPr>
          <a:xfrm>
            <a:off x="548640" y="4983480"/>
            <a:ext cx="5852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7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A6675"/>
                </a:solidFill>
                <a:latin typeface="Calibri"/>
                <a:ea typeface="Calibri"/>
                <a:cs typeface="Calibri"/>
                <a:sym typeface="Calibri"/>
              </a:rPr>
              <a:t>Helps where tasks recur with verifiable structure (ALFWorld, WebShop); flat where the action space is open-ended (OS Interaction).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tokens.png" id="417" name="Google Shape;4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0" y="1737360"/>
            <a:ext cx="507492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7"/>
          <p:cNvSpPr/>
          <p:nvPr/>
        </p:nvSpPr>
        <p:spPr>
          <a:xfrm>
            <a:off x="6583680" y="4892040"/>
            <a:ext cx="5074920" cy="1234440"/>
          </a:xfrm>
          <a:prstGeom prst="roundRect">
            <a:avLst>
              <a:gd fmla="val 6667" name="adj"/>
            </a:avLst>
          </a:prstGeom>
          <a:solidFill>
            <a:srgbClr val="FBEFE4"/>
          </a:solidFill>
          <a:ln cap="flat" cmpd="sng" w="15225">
            <a:solidFill>
              <a:srgbClr val="E88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6784848" y="5029200"/>
            <a:ext cx="4709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Bounded &amp; auditable.  </a:t>
            </a:r>
            <a:r>
              <a:rPr lang="en-US" sz="1150">
                <a:solidFill>
                  <a:srgbClr val="2B3648"/>
                </a:solidFill>
                <a:latin typeface="Calibri"/>
                <a:ea typeface="Calibri"/>
                <a:cs typeface="Calibri"/>
                <a:sym typeface="Calibri"/>
              </a:rPr>
              <a:t>~5 skills, ≈5.6k tokens vs 34–53k for memory baselines — an order of magnitude less, and it doesn't grow with training. Each skill is a versioned document recording its trigger, probe score, and what it replaced.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33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8"/>
          <p:cNvSpPr/>
          <p:nvPr/>
        </p:nvSpPr>
        <p:spPr>
          <a:xfrm>
            <a:off x="640080" y="6858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640080" y="102412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Gated editing beats monotonic accumulation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640080" y="2148840"/>
            <a:ext cx="5394960" cy="1600200"/>
          </a:xfrm>
          <a:prstGeom prst="roundRect">
            <a:avLst>
              <a:gd fmla="val 5714" name="adj"/>
            </a:avLst>
          </a:prstGeom>
          <a:solidFill>
            <a:srgbClr val="1E2A4A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868680" y="23317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E8833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1600200" y="2350008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b="1" lang="en-US" sz="16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Validated edits, not accumulation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1600200" y="2770632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DBBD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DBBD0"/>
                </a:solidFill>
                <a:latin typeface="Calibri"/>
                <a:ea typeface="Calibri"/>
                <a:cs typeface="Calibri"/>
                <a:sym typeface="Calibri"/>
              </a:rPr>
              <a:t>GRASP converts failures into gated edits of a bounded, reversible skill library — +21.0 pts over the strongest baseline, across five models on two FHIR benchmarks.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6263640" y="2148840"/>
            <a:ext cx="5394960" cy="1600200"/>
          </a:xfrm>
          <a:prstGeom prst="roundRect">
            <a:avLst>
              <a:gd fmla="val 5714" name="adj"/>
            </a:avLst>
          </a:prstGeom>
          <a:solidFill>
            <a:srgbClr val="1E2A4A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6492240" y="23317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E8833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7223760" y="2350008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b="1" lang="en-US" sz="16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gate is the mechanism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7223760" y="2770632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DBBD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DBBD0"/>
                </a:solidFill>
                <a:latin typeface="Calibri"/>
                <a:ea typeface="Calibri"/>
                <a:cs typeface="Calibri"/>
                <a:sym typeface="Calibri"/>
              </a:rPr>
              <a:t>Ablations localize the gain to the acceptance gate, not skill writing: without validation, skill writing is no better than no skills.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640080" y="3931920"/>
            <a:ext cx="5394960" cy="1600200"/>
          </a:xfrm>
          <a:prstGeom prst="roundRect">
            <a:avLst>
              <a:gd fmla="val 5714" name="adj"/>
            </a:avLst>
          </a:prstGeom>
          <a:solidFill>
            <a:srgbClr val="1E2A4A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868680" y="4114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E8833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1600200" y="4133088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b="1" lang="en-US" sz="16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Environment-procedural knowledge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1600200" y="4553712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DBBD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DBBD0"/>
                </a:solidFill>
                <a:latin typeface="Calibri"/>
                <a:ea typeface="Calibri"/>
                <a:cs typeface="Calibri"/>
                <a:sym typeface="Calibri"/>
              </a:rPr>
              <a:t>Stronger-writer libraries lift weaker executors (the reverse fails); skills break across interface boundaries — encoding procedure, not model quirks.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6263640" y="3931920"/>
            <a:ext cx="5394960" cy="1600200"/>
          </a:xfrm>
          <a:prstGeom prst="roundRect">
            <a:avLst>
              <a:gd fmla="val 5714" name="adj"/>
            </a:avLst>
          </a:prstGeom>
          <a:solidFill>
            <a:srgbClr val="1E2A4A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6492240" y="4114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E8833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7223760" y="4133088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b="1" lang="en-US" sz="16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Practical to deploy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7223760" y="4553712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DBBD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DBBD0"/>
                </a:solidFill>
                <a:latin typeface="Calibri"/>
                <a:ea typeface="Calibri"/>
                <a:cs typeface="Calibri"/>
                <a:sym typeface="Calibri"/>
              </a:rPr>
              <a:t>Bounded token cost and per-skill auditability suit settings that must be inspected and corrected after deployment rather than retrained.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640080" y="58521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A94A6"/>
                </a:solidFill>
                <a:latin typeface="Calibri"/>
                <a:ea typeface="Calibri"/>
                <a:cs typeface="Calibri"/>
                <a:sym typeface="Calibri"/>
              </a:rPr>
              <a:t>Limitations: benchmarks score procedural reliability against FHIR state, not clinical outcomes; the probe is GRASP's dominant cost (~440 agent calls/batch); transfer is asymmetric. Clinical deployment would require clinician review of each skill.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2026-07-02T18:43:57Z</dcterms:created>
  <dc:creator>GRASP presentation</dc:creator>
</cp:coreProperties>
</file>